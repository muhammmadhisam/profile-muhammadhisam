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Muhammadhisam Pala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Selected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Expertise &amp; career 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Centralized Energy Data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Centralized Energy Data Platform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Manager Gas Pool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Verso PO/PR Procurement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Verso PO/PR Procurement Workflow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Prolab Health Service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Prolab Health Service Platform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MoveSook On-demand Moving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MoveSook On-demand Moving Platform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ICMT ระบบบริการจัดการแท็บเล็ต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ICMT ระบบบริการจัดการแท็บเล็ต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M-MERT Maritime Emergency Medical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M-MERT Maritime Emergency Medical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 Booking + AI Chatbot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 Booking + AI Chatbot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side 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&amp;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77900" y="0"/>
            <a:ext cx="11214100" cy="6858000"/>
          </a:xfrm>
          <a:custGeom>
            <a:avLst/>
            <a:gdLst/>
            <a:ahLst/>
            <a:cxnLst/>
            <a:rect l="l" t="t" r="r" b="b"/>
            <a:pathLst>
              <a:path w="11214100" h="6858000">
                <a:moveTo>
                  <a:pt x="11214100" y="0"/>
                </a:moveTo>
                <a:lnTo>
                  <a:pt x="1121410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4381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199" b="1" spc="320">
                <a:solidFill>
                  <a:srgbClr val="E8552F"/>
                </a:solidFill>
                <a:latin typeface="Arial"/>
              </a:rPr>
              <a:t>SELECTED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4673600"/>
            <a:ext cx="6985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399" b="1">
                <a:solidFill>
                  <a:srgbClr val="072A57"/>
                </a:solidFill>
                <a:latin typeface="Arial"/>
              </a:rPr>
              <a:t>Muhammadhisam</a:t>
            </a:r>
          </a:p>
          <a:p>
            <a:pPr algn="l">
              <a:lnSpc>
                <a:spcPct val="98000"/>
              </a:lnSpc>
            </a:pPr>
            <a:r>
              <a:rPr sz="6399" b="1">
                <a:solidFill>
                  <a:srgbClr val="072A57"/>
                </a:solidFill>
                <a:latin typeface="Arial"/>
              </a:rPr>
              <a:t>Pala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1722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2299" b="0">
                <a:solidFill>
                  <a:srgbClr val="072A57"/>
                </a:solidFill>
                <a:latin typeface="Arial"/>
              </a:rPr>
              <a:t>Software Developer Portfolio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5532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299" b="0">
                <a:solidFill>
                  <a:srgbClr val="7C8894"/>
                </a:solidFill>
                <a:latin typeface="Tahoma"/>
              </a:rPr>
              <a:t>มูฮัมหมัดฮีซาม ปาล๊ะ (ซัง) — Backend / Fullstack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33400"/>
            <a:ext cx="5334000" cy="825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60000"/>
              </a:lnSpc>
            </a:pPr>
            <a:r>
              <a:rPr sz="949" b="1">
                <a:solidFill>
                  <a:srgbClr val="072A57"/>
                </a:solidFill>
                <a:latin typeface="Arial"/>
              </a:rPr>
              <a:t>muhammadhisam.pala@gmail.com</a:t>
            </a:r>
          </a:p>
          <a:p>
            <a:pPr algn="r">
              <a:lnSpc>
                <a:spcPct val="160000"/>
              </a:lnSpc>
            </a:pPr>
            <a:r>
              <a:rPr sz="949" b="0">
                <a:solidFill>
                  <a:srgbClr val="6E7A87"/>
                </a:solidFill>
                <a:latin typeface="Arial"/>
              </a:rPr>
              <a:t>090-163-0867 · LINE: hisam023</a:t>
            </a:r>
          </a:p>
          <a:p>
            <a:pPr algn="r">
              <a:lnSpc>
                <a:spcPct val="160000"/>
              </a:lnSpc>
            </a:pPr>
            <a:r>
              <a:rPr sz="949" b="0">
                <a:solidFill>
                  <a:srgbClr val="6E7A87"/>
                </a:solidFill>
                <a:latin typeface="Arial"/>
              </a:rPr>
              <a:t>github.com/muhammmadhisam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Selected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แปดระบบที่ผมมีส่วนร่วมพัฒนาและได้ใช้งานจริง — แต่ละตัวมีหน้าอธิบายและภาพหน้าจอในหน้าถัดไป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161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c-01.jpg"/>
          <p:cNvPicPr>
            <a:picLocks noChangeAspect="1"/>
          </p:cNvPicPr>
          <p:nvPr/>
        </p:nvPicPr>
        <p:blipFill>
          <a:blip r:embed="rId2"/>
          <a:srcRect b="20040"/>
          <a:stretch>
            <a:fillRect/>
          </a:stretch>
        </p:blipFill>
        <p:spPr>
          <a:xfrm>
            <a:off x="508000" y="1816100"/>
            <a:ext cx="2603500" cy="162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35179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6576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ERC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8608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Energy Platform · Aquila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2000" y="18161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ool-01.jpg"/>
          <p:cNvPicPr>
            <a:picLocks noChangeAspect="1"/>
          </p:cNvPicPr>
          <p:nvPr/>
        </p:nvPicPr>
        <p:blipFill>
          <a:blip r:embed="rId3"/>
          <a:srcRect b="54795"/>
          <a:stretch>
            <a:fillRect/>
          </a:stretch>
        </p:blipFill>
        <p:spPr>
          <a:xfrm>
            <a:off x="3302000" y="1816100"/>
            <a:ext cx="2603500" cy="162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02000" y="35179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000" y="36576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Pool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2000" y="38608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Gas Management · Aquila Studio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18161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erso-01.jpg"/>
          <p:cNvPicPr>
            <a:picLocks noChangeAspect="1"/>
          </p:cNvPicPr>
          <p:nvPr/>
        </p:nvPicPr>
        <p:blipFill>
          <a:blip r:embed="rId4"/>
          <a:srcRect b="26744"/>
          <a:stretch>
            <a:fillRect/>
          </a:stretch>
        </p:blipFill>
        <p:spPr>
          <a:xfrm>
            <a:off x="6096000" y="1816100"/>
            <a:ext cx="2603500" cy="1625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0" y="35179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36576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Verso PO/PR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38608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Procurement · Aquila Studio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000" y="18161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rolab-01.jpg"/>
          <p:cNvPicPr>
            <a:picLocks noChangeAspect="1"/>
          </p:cNvPicPr>
          <p:nvPr/>
        </p:nvPicPr>
        <p:blipFill>
          <a:blip r:embed="rId5"/>
          <a:srcRect l="8647" r="8647"/>
          <a:stretch>
            <a:fillRect/>
          </a:stretch>
        </p:blipFill>
        <p:spPr>
          <a:xfrm>
            <a:off x="8890000" y="1816100"/>
            <a:ext cx="2603500" cy="1625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90000" y="35179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36576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Prolab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38608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HealthTech · Aquila Studio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40386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ovesook-01.jpg"/>
          <p:cNvPicPr>
            <a:picLocks noChangeAspect="1"/>
          </p:cNvPicPr>
          <p:nvPr/>
        </p:nvPicPr>
        <p:blipFill>
          <a:blip r:embed="rId6"/>
          <a:srcRect b="98"/>
          <a:stretch>
            <a:fillRect/>
          </a:stretch>
        </p:blipFill>
        <p:spPr>
          <a:xfrm>
            <a:off x="508000" y="4038600"/>
            <a:ext cx="2603500" cy="1625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8000" y="57404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8801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MoveSook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8000" y="60833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SaaS Marketplace · Side project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02000" y="40386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mt-01.jpg"/>
          <p:cNvPicPr>
            <a:picLocks noChangeAspect="1"/>
          </p:cNvPicPr>
          <p:nvPr/>
        </p:nvPicPr>
        <p:blipFill>
          <a:blip r:embed="rId7"/>
          <a:srcRect l="11713" r="11713"/>
          <a:stretch>
            <a:fillRect/>
          </a:stretch>
        </p:blipFill>
        <p:spPr>
          <a:xfrm>
            <a:off x="3302000" y="4038600"/>
            <a:ext cx="2603500" cy="1625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02000" y="57404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2000" y="58801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ICMT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2000" y="60833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EdTech · Aquila Studio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0" y="40386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mert-01.jpg"/>
          <p:cNvPicPr>
            <a:picLocks noChangeAspect="1"/>
          </p:cNvPicPr>
          <p:nvPr/>
        </p:nvPicPr>
        <p:blipFill>
          <a:blip r:embed="rId8"/>
          <a:srcRect b="50341"/>
          <a:stretch>
            <a:fillRect/>
          </a:stretch>
        </p:blipFill>
        <p:spPr>
          <a:xfrm>
            <a:off x="6096000" y="4038600"/>
            <a:ext cx="2603500" cy="1625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96000" y="57404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0" y="58801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M-MERT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0" y="60833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Emergency Medical · Side project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0000" y="4038600"/>
            <a:ext cx="2603500" cy="16256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linic-rag-01.jpg"/>
          <p:cNvPicPr>
            <a:picLocks noChangeAspect="1"/>
          </p:cNvPicPr>
          <p:nvPr/>
        </p:nvPicPr>
        <p:blipFill>
          <a:blip r:embed="rId9"/>
          <a:srcRect l="11963" r="11963"/>
          <a:stretch>
            <a:fillRect/>
          </a:stretch>
        </p:blipFill>
        <p:spPr>
          <a:xfrm>
            <a:off x="8890000" y="4038600"/>
            <a:ext cx="2603500" cy="1625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90000" y="5740400"/>
            <a:ext cx="2603500" cy="1397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49" b="1" spc="240">
                <a:solidFill>
                  <a:srgbClr val="E8552F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0000" y="58801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099" b="1">
                <a:solidFill>
                  <a:srgbClr val="072A57"/>
                </a:solidFill>
                <a:latin typeface="Arial"/>
              </a:rPr>
              <a:t>Clinic Booking +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0000" y="6083300"/>
            <a:ext cx="26035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Arial"/>
              </a:rPr>
              <a:t>AI · RAG · Side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26000" y="0"/>
            <a:ext cx="7366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Expertise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244600"/>
            <a:ext cx="3810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Backend Developer สาย TypeScript / Node.js / Bun ทำงานตั้งแต่คุย requirement ออกแบบฐานข้อมูลและ API เขียนโค้ด ไปจนถึง deploy และดูแลระบบหลังขึ้น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73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Tahoma"/>
              </a:rPr>
              <a:t>จุดที่ถนัด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9083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ออกแบบ REST API และฐานข้อมูลให้ทีมหน้าบ้านต่อง่าย จัดการงาน queue / background job และดูแล deployment ด้วย Docker + 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619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Tahoma"/>
              </a:rPr>
              <a:t>กำลังเรียนรู้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7973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สาย AI / RAG — ต่อ Vector Search และ LLM เข้ากับระบบที่มีอยู่ เพื่อลดงานซ้ำ ๆ ของผู้ใช้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080000"/>
            <a:ext cx="1206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99" b="1">
                <a:solidFill>
                  <a:srgbClr val="072A57"/>
                </a:solidFill>
                <a:latin typeface="Arial"/>
              </a:rPr>
              <a:t>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547370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ปีในสายพัฒนา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8000" y="5080000"/>
            <a:ext cx="1206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99" b="1">
                <a:solidFill>
                  <a:srgbClr val="072A57"/>
                </a:solidFill>
                <a:latin typeface="Arial"/>
              </a:rPr>
              <a:t>10+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8000" y="547370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ระบบที่ใช้งานจริง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5080000"/>
            <a:ext cx="1206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99" b="1">
                <a:solidFill>
                  <a:srgbClr val="072A57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547370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บริษัทที่ร่วมงาน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000" y="952500"/>
            <a:ext cx="5715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CAREER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1000" y="1270000"/>
            <a:ext cx="6223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1000" y="1435100"/>
            <a:ext cx="6223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 spc="130">
                <a:solidFill>
                  <a:srgbClr val="97A2AE"/>
                </a:solidFill>
                <a:latin typeface="Tahoma"/>
              </a:rPr>
              <a:t>กรกฎาคม 2565 — ปัจจุบัน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0" y="1625600"/>
            <a:ext cx="622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599" b="1">
                <a:solidFill>
                  <a:srgbClr val="072A57"/>
                </a:solidFill>
                <a:latin typeface="Arial"/>
              </a:rPr>
              <a:t>Mid-level Backend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1000" y="1917700"/>
            <a:ext cx="622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999" b="0">
                <a:solidFill>
                  <a:srgbClr val="55606D"/>
                </a:solidFill>
                <a:latin typeface="Tahoma"/>
              </a:rPr>
              <a:t>บริษัท อะควิลา สตูดิโอ จำกัด · HealthTech · Energy · Enterprise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1000" y="2362200"/>
            <a:ext cx="6223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61000" y="2527300"/>
            <a:ext cx="6223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 spc="130">
                <a:solidFill>
                  <a:srgbClr val="97A2AE"/>
                </a:solidFill>
                <a:latin typeface="Tahoma"/>
              </a:rPr>
              <a:t>ตุลาคม 2564 — มิถุนายน 2565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1000" y="2717800"/>
            <a:ext cx="622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599" b="1">
                <a:solidFill>
                  <a:srgbClr val="072A57"/>
                </a:solidFill>
                <a:latin typeface="Arial"/>
              </a:rPr>
              <a:t>Frontend Developer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00" y="3009900"/>
            <a:ext cx="622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999" b="0">
                <a:solidFill>
                  <a:srgbClr val="55606D"/>
                </a:solidFill>
                <a:latin typeface="Tahoma"/>
              </a:rPr>
              <a:t>บริษัท คิวบ์ออฟไนน์ จำกัด · Angular · Responsive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1000" y="3454400"/>
            <a:ext cx="6223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1000" y="3619500"/>
            <a:ext cx="6223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 spc="130">
                <a:solidFill>
                  <a:srgbClr val="97A2AE"/>
                </a:solidFill>
                <a:latin typeface="Tahoma"/>
              </a:rPr>
              <a:t>ตุลาคม 2563 — ตุลาคม 2564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000" y="3810000"/>
            <a:ext cx="622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599" b="1">
                <a:solidFill>
                  <a:srgbClr val="072A57"/>
                </a:solidFill>
                <a:latin typeface="Arial"/>
              </a:rPr>
              <a:t>Fullstack 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1000" y="4102100"/>
            <a:ext cx="622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999" b="0">
                <a:solidFill>
                  <a:srgbClr val="55606D"/>
                </a:solidFill>
                <a:latin typeface="Tahoma"/>
              </a:rPr>
              <a:t>บริษัท เดต้าฮอลิค จำกัด · POS · CRM · ระบบภายในองค์กร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61000" y="4546600"/>
            <a:ext cx="6223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1000" y="4800600"/>
            <a:ext cx="6223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97A2AE"/>
                </a:solidFill>
                <a:latin typeface="Tahoma"/>
              </a:rPr>
              <a:t>5+ ปีที่ผ่านมาส่วนใหญ่อยู่กับงานสาย HealthTech, Energy และระบบภายในองค์กร เคยทำทั้ง Microservices, multi-tenant SaaS และงาน queue / background job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What I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สามเรื่องหลักที่ผมรับผิดชอบในทุกโปรเจกต์ — ตั้งแต่ออกแบบสถาปัตยกรรม จนขึ้น production และดูแลต่อ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3556000" cy="1905000"/>
          </a:xfrm>
          <a:prstGeom prst="rect">
            <a:avLst/>
          </a:prstGeom>
          <a:solidFill>
            <a:srgbClr val="F6F8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nic-e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77208"/>
            <a:ext cx="3352800" cy="11605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3886200"/>
            <a:ext cx="3556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สถาปัตยกรรม Microservices Monorepo ของ Clinic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140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01 · BACKEND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43434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ออกแบบและพัฒนา RESTful API กับฐานข้อมูล ดูแลตั้งแต่คุย requirement วางโครงสร้างข้อมูล จนขึ้น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4102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TypeScript · Node.js · Bun · NestJS · Hono · PostgreSQL · Prisma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1905000"/>
            <a:ext cx="3556000" cy="1905000"/>
          </a:xfrm>
          <a:prstGeom prst="rect">
            <a:avLst/>
          </a:prstGeom>
          <a:solidFill>
            <a:srgbClr val="F6F8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eaws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371876"/>
            <a:ext cx="3352800" cy="9712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18000" y="3886200"/>
            <a:ext cx="3556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AI Vector Search Pipeline ของ MeawSook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4140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02 · AI &amp;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43434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ต่อ AI แบบ RAG เข้ากับระบบเดิม ทำ Vector Search และเชื่อมระบบภายนอก เช่น HL7, LINE LIFF และ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54102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OpenAI SDK · LangChain · Qdrant · pgvector · HL7 Parser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1905000"/>
            <a:ext cx="3556000" cy="1905000"/>
          </a:xfrm>
          <a:prstGeom prst="rect">
            <a:avLst/>
          </a:prstGeom>
          <a:solidFill>
            <a:srgbClr val="F6F8F9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m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94580"/>
            <a:ext cx="3352800" cy="112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28000" y="3886200"/>
            <a:ext cx="3556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สถาปัตยกรรม Real-time Event-driven ของ M-MERT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4140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03 · DEVOPS &amp;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43434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ดูแล deployment ด้วย Docker และ CI/CD บน cloud จัดการงาน background ด้วย queue และงาน real-time ด้วย 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54102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Docker · GitHub Actions · Nginx · Linux · Redis · BullMQ · 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c-01.jpg"/>
          <p:cNvPicPr>
            <a:picLocks noChangeAspect="1"/>
          </p:cNvPicPr>
          <p:nvPr/>
        </p:nvPicPr>
        <p:blipFill>
          <a:blip r:embed="rId2"/>
          <a:srcRect l="2032" r="2032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แดชบอร์ดภาพรวมการใช้ไฟฟ้าทั้งประเทศ พร้อมแผนที่โรงไฟฟ้ารายจุด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AQUILA STUDIO · ENERGY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Centralized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Energy Data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ระบบรวบรวมและแสดงผลข้อมูลความต้องการใช้ไฟฟ้าและกำลังการผลิตจากหลายแหล่งไว้ที่เดียว พร้อม dashboard ที่ดูแยกรายภูมิภาค ประเภทเชื้อเพลิง และสัญญาซื้อขายไฟฟ้าได้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Responsive Web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Backend · REST API · Data Pipeline · Database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NestJS · TypeScript · PostgreSQL ·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ร่วมพัฒนา Energy Data Aggregation API ที่รวมข้อมูลไฟฟ้าจากหลายแหล่งเข้า dashboard เดียว สำหรับดูภาพรวมและ monitoring ระดับประเทศ ผมดูแลฝั่ง backend ตั้งแต่ออกแบบโครงสร้างข้อมูล เขียน API รวมข้อมูล จนถึง deploy บน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CENTRALIZED ENERGY DATA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หน้าจอเพิ่มเติมของระบบ — แดชบอร์ดรายภูมิภาค คลังข้อมูลย้อนหลัง และหน้านำเข้าข้อมูล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3556000" cy="29845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c-02.jpg"/>
          <p:cNvPicPr>
            <a:picLocks noChangeAspect="1"/>
          </p:cNvPicPr>
          <p:nvPr/>
        </p:nvPicPr>
        <p:blipFill>
          <a:blip r:embed="rId2"/>
          <a:srcRect b="29018"/>
          <a:stretch>
            <a:fillRect/>
          </a:stretch>
        </p:blipFill>
        <p:spPr>
          <a:xfrm>
            <a:off x="508000" y="1905000"/>
            <a:ext cx="3556000" cy="298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50165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แดชบอร์ดกำลังผลิตแยกรายภูมิภาคและประเภทเชื้อเพลิง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0" y="1905000"/>
            <a:ext cx="3556000" cy="29845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rc-04.jpg"/>
          <p:cNvPicPr>
            <a:picLocks noChangeAspect="1"/>
          </p:cNvPicPr>
          <p:nvPr/>
        </p:nvPicPr>
        <p:blipFill>
          <a:blip r:embed="rId3"/>
          <a:srcRect l="4793" r="4793"/>
          <a:stretch>
            <a:fillRect/>
          </a:stretch>
        </p:blipFill>
        <p:spPr>
          <a:xfrm>
            <a:off x="4318000" y="1905000"/>
            <a:ext cx="3556000" cy="298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8000" y="50165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คลังข้อมูลย้อนหลัง แยกตามภูมิภาคและประเภทรายงาน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0" y="1905000"/>
            <a:ext cx="3556000" cy="29845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rc-05.jpg"/>
          <p:cNvPicPr>
            <a:picLocks noChangeAspect="1"/>
          </p:cNvPicPr>
          <p:nvPr/>
        </p:nvPicPr>
        <p:blipFill>
          <a:blip r:embed="rId4"/>
          <a:srcRect b="7756"/>
          <a:stretch>
            <a:fillRect/>
          </a:stretch>
        </p:blipFill>
        <p:spPr>
          <a:xfrm>
            <a:off x="8128000" y="1905000"/>
            <a:ext cx="3556000" cy="2984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28000" y="50165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หน้านำเข้าข้อมูล Supply / Demand / MA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ol-01.jpg"/>
          <p:cNvPicPr>
            <a:picLocks noChangeAspect="1"/>
          </p:cNvPicPr>
          <p:nvPr/>
        </p:nvPicPr>
        <p:blipFill>
          <a:blip r:embed="rId2"/>
          <a:srcRect b="41071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แดชบอร์ด Billing สรุปปริมาณและราคาก๊าซรายเดือน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แหล่งจัดหาก๊าซ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Arial"/>
              </a:rPr>
              <a:t>LNG · Gulf · Myanmar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5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5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ทุกการคำนวณ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บันทึก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AQUILA STUDIO · GAS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Pool Manager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Gas Pool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ระบบบริหารจัดการก๊าซธรรมชาติ คำนวณต้นทุนจากแหล่งจัดหา (LNG, Gulf, Myanmar) อัตราแลกเปลี่ยน และข้อมูล Shipper จากหลายระบบ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Web Application (Internal)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Backend · Cost Allocation Engine ·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TypeScript · PostgreSQL · 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รองรับ Cost Allocation &amp; Pricing Workflow และเก็บประวัติให้ตรวจสอบย้อนหลังได้ ทุกการคำนวณต้องอธิบายที่มาของตัวเลขได้ จึงออกแบบให้บันทึก audit trail ทุกขั้นตอน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rso-01.jpg"/>
          <p:cNvPicPr>
            <a:picLocks noChangeAspect="1"/>
          </p:cNvPicPr>
          <p:nvPr/>
        </p:nvPicPr>
        <p:blipFill>
          <a:blip r:embed="rId2"/>
          <a:srcRect b="4503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หน้าแรกของระบบจัดซื้อ พร้อมรายการคำขอเบิกจ่าย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AQUILA STUDIO · PROCUREMENT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Verso PO/PR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Procurement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ระบบจัดซื้อตั้งแต่ยื่นคำขอจนถึงรับสินค้า รองรับ Multi-Level Approval, Budget Validation และ Purchase Order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Web Application (Internal)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Backend · Approval Workflow · Budget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TypeScript · PostgreSQL ·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ออกแบบ flow อนุมัติหลายระดับตามโครงสร้างองค์กร ตรวจงบก่อนใช้จริงเพื่อกัน budget overrun และมี Audit Trail สำหรับการตรวจสอบภายใน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VERSO PO/PR PROCUREMENT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หน้า Purchase Order ที่ออกจากคำขอซื้อ พร้อมตารางรายการ สรุปภาษี และช่องอนุมัติ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905000"/>
            <a:ext cx="7620000" cy="3937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erso-02.jpg"/>
          <p:cNvPicPr>
            <a:picLocks noChangeAspect="1"/>
          </p:cNvPicPr>
          <p:nvPr/>
        </p:nvPicPr>
        <p:blipFill>
          <a:blip r:embed="rId2"/>
          <a:srcRect b="46258"/>
          <a:stretch>
            <a:fillRect/>
          </a:stretch>
        </p:blipFill>
        <p:spPr>
          <a:xfrm>
            <a:off x="2286000" y="1905000"/>
            <a:ext cx="7620000" cy="3937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5969000"/>
            <a:ext cx="762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 Purchase Order พร้อมตารางรายการและสรุปภาษี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lab-01.jpg"/>
          <p:cNvPicPr>
            <a:picLocks noChangeAspect="1"/>
          </p:cNvPicPr>
          <p:nvPr/>
        </p:nvPicPr>
        <p:blipFill>
          <a:blip r:embed="rId2"/>
          <a:srcRect l="18278" r="18278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หน้าแรกของ ProLab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3–7 →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วัน — เวลารอผลแล็บ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หลังทีมปรับ flow 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AQUILA STUDIO · HEALTHTECH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Prolab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Health Service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Web Application สำหรับจัดการบริการตรวจสุขภาพและห้องปฏิบัติการ ครอบคลุม Patient Information, Package Management, Online Appointment และ Booking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Responsive Web · Customer &amp; Back-office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Backend · REST API · Lab Result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TypeScript · PostgreSQL · HL7 ·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ร่วมพัฒนาฝั่ง backend ของ AI Health Analytics ที่ช่วยประเมินความเสี่ยงจากผลตรวจเป็นข้อมูลประกอบให้แพทย์ และปรับ flow ของ Lab Result System จนทีมลดเวลารอผลจาก 3–7 วัน เหลือ 1–3 วัน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6045200"/>
            <a:ext cx="355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949" b="1">
                <a:solidFill>
                  <a:srgbClr val="072A57"/>
                </a:solidFill>
                <a:latin typeface="Arial"/>
              </a:rPr>
              <a:t>ai.prolab.co.th  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PROLAB HEALTH SERVICE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ฝั่งผู้ใช้ — นัดหมาย แพ็กเกจตรวจสุขภาพ และหน้าเว็บไซต์หลัก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3556000" cy="29845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lab-02.jpg"/>
          <p:cNvPicPr>
            <a:picLocks noChangeAspect="1"/>
          </p:cNvPicPr>
          <p:nvPr/>
        </p:nvPicPr>
        <p:blipFill>
          <a:blip r:embed="rId2"/>
          <a:srcRect b="5717"/>
          <a:stretch>
            <a:fillRect/>
          </a:stretch>
        </p:blipFill>
        <p:spPr>
          <a:xfrm>
            <a:off x="508000" y="1905000"/>
            <a:ext cx="3556000" cy="298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50165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หน้ารายการนัดหมายของผู้ใช้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0" y="1905000"/>
            <a:ext cx="3556000" cy="29845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lab-03.jpg"/>
          <p:cNvPicPr>
            <a:picLocks noChangeAspect="1"/>
          </p:cNvPicPr>
          <p:nvPr/>
        </p:nvPicPr>
        <p:blipFill>
          <a:blip r:embed="rId3"/>
          <a:srcRect l="27429" r="27429"/>
          <a:stretch>
            <a:fillRect/>
          </a:stretch>
        </p:blipFill>
        <p:spPr>
          <a:xfrm>
            <a:off x="4318000" y="1905000"/>
            <a:ext cx="3556000" cy="298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8000" y="50165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แพ็กเกจตรวจสุขภาพบนหน้าเว็บ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0" y="1905000"/>
            <a:ext cx="3556000" cy="29845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lab-04.jpg"/>
          <p:cNvPicPr>
            <a:picLocks noChangeAspect="1"/>
          </p:cNvPicPr>
          <p:nvPr/>
        </p:nvPicPr>
        <p:blipFill>
          <a:blip r:embed="rId4"/>
          <a:srcRect b="69430"/>
          <a:stretch>
            <a:fillRect/>
          </a:stretch>
        </p:blipFill>
        <p:spPr>
          <a:xfrm>
            <a:off x="8128000" y="1905000"/>
            <a:ext cx="3556000" cy="2984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28000" y="5016500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หน้าเว็บไซต์หลักของระบบ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vesook-01.jpg"/>
          <p:cNvPicPr>
            <a:picLocks noChangeAspect="1"/>
          </p:cNvPicPr>
          <p:nvPr/>
        </p:nvPicPr>
        <p:blipFill>
          <a:blip r:embed="rId2"/>
          <a:srcRect l="11607" r="11607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หน้าแรก เรียกรถรับจ้างขนย้าย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แอปใน Monorepo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Arial"/>
              </a:rPr>
              <a:t>web · admin ·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5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5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ระดับสิทธิ์ RBAC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Arial"/>
              </a:rPr>
              <a:t>USER · DRIVER · ADMIN ·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SIDE PROJECT · SAAS MARKETPLACE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MoveSook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On-demand Moving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Two-sided marketplace เชื่อมผู้ใช้กับคนขับขนย้ายผ่าน LINE/LIFF พร้อมหลังบ้านสำหรับทีม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LINE Mini App · Responsive Web ·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ทำเองทั้งหมด — Architecture · Backend · Frontend ·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Turborepo · Next.js · Hono · Prisma · PostgreSQL · Zod · LINE LIFF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ออกแบบเป็น Monorepo แยก 3 แอป (web · admin · api) ที่ใช้ end-to-end type-safe RPC ตั้งแต่ DB ถึง UI มี RBAC 4 ระดับ (USER / DRIVER / ADMIN / SYSTEM) และ Job State Machine สำหรับ business logic การจับคู่งาน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6045200"/>
            <a:ext cx="3556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949" b="1">
                <a:solidFill>
                  <a:srgbClr val="072A57"/>
                </a:solidFill>
                <a:latin typeface="Arial"/>
              </a:rPr>
              <a:t>movesook.com  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MOVESOOK ON-DEMAND MOVING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หน้าอธิบายบริการและพื้นที่ให้บริการ — ออกแบบให้ผู้ใช้เข้าใจขั้นตอนก่อนโพสต์งานขนย้าย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5461000" cy="33972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vesook-02.jpg"/>
          <p:cNvPicPr>
            <a:picLocks noChangeAspect="1"/>
          </p:cNvPicPr>
          <p:nvPr/>
        </p:nvPicPr>
        <p:blipFill>
          <a:blip r:embed="rId2"/>
          <a:srcRect b="465"/>
          <a:stretch>
            <a:fillRect/>
          </a:stretch>
        </p:blipFill>
        <p:spPr>
          <a:xfrm>
            <a:off x="508000" y="1905000"/>
            <a:ext cx="5461000" cy="339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542925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จุดเด่นของบริการ และขั้นตอนใช้งาน 3 ขั้นตอน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1905000"/>
            <a:ext cx="5461000" cy="33972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vesook-03.jpg"/>
          <p:cNvPicPr>
            <a:picLocks noChangeAspect="1"/>
          </p:cNvPicPr>
          <p:nvPr/>
        </p:nvPicPr>
        <p:blipFill>
          <a:blip r:embed="rId3"/>
          <a:srcRect b="465"/>
          <a:stretch>
            <a:fillRect/>
          </a:stretch>
        </p:blipFill>
        <p:spPr>
          <a:xfrm>
            <a:off x="6223000" y="1905000"/>
            <a:ext cx="5461000" cy="339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23000" y="542925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พื้นที่ให้บริการ และคำถามที่พบบ่อย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mt-01.jpg"/>
          <p:cNvPicPr>
            <a:picLocks noChangeAspect="1"/>
          </p:cNvPicPr>
          <p:nvPr/>
        </p:nvPicPr>
        <p:blipFill>
          <a:blip r:embed="rId2"/>
          <a:srcRect l="20629" r="20629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แดชบอร์ดภาพรวมสถานะอุปกรณ์ พร้อมรายงานรายโรงเรียน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อุปกรณ์ในระบบ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กระจายหลายโรงเรียน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5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5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บริการแยกกัน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Arial"/>
              </a:rPr>
              <a:t>Web · Admin · Storage ·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AQUILA STUDIO · EDTECH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ICMT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Tahoma"/>
              </a:rPr>
              <a:t>ระบบบริการจัดการแท็บเล็ต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แพลตฟอร์ม Monorepo สำหรับบริหารจัดการแท็บเล็ตที่แจกจ่ายให้โรงเรียน ครอบคลุมทะเบียนทรัพย์สิน ยืม–คืน ตรวจรับคืน ตั๋วแจ้งเคลมซ่อม และรายงานรายโรงเรียน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Web · Admin Console · Background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Backend · RBAC · Queue · Audit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Turborepo · Next.js · Hono · Prisma · PostgreSQL · 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แยกเป็น Web, Admin, Storage Service และ Background Worker รองรับ Role-based Access (SYSTEM / USER / ADMIN), JWT + Refresh Token Rotation, Redis Queue สำหรับงานเบื้องหลัง และ Audit Log ที่ตรวจสอบย้อนหลังได้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Tahoma"/>
              </a:rPr>
              <a:t>ICMT ระบบบริการจัดการแท็บเล็ต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ฝั่งผู้ใช้ทั่วไป — หน้าแรกของระบบ และหน้ายืมอุปกรณ์พร้อมสถานะการยืม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5461000" cy="33972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mt-02.jpg"/>
          <p:cNvPicPr>
            <a:picLocks noChangeAspect="1"/>
          </p:cNvPicPr>
          <p:nvPr/>
        </p:nvPicPr>
        <p:blipFill>
          <a:blip r:embed="rId2"/>
          <a:srcRect l="11571" r="11571"/>
          <a:stretch>
            <a:fillRect/>
          </a:stretch>
        </p:blipFill>
        <p:spPr>
          <a:xfrm>
            <a:off x="508000" y="1905000"/>
            <a:ext cx="5461000" cy="339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542925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หน้าแรกของระบบสำหรับผู้ใช้ทั่วไป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1905000"/>
            <a:ext cx="5461000" cy="33972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mt-03.jpg"/>
          <p:cNvPicPr>
            <a:picLocks noChangeAspect="1"/>
          </p:cNvPicPr>
          <p:nvPr/>
        </p:nvPicPr>
        <p:blipFill>
          <a:blip r:embed="rId3"/>
          <a:srcRect l="11697" r="11697"/>
          <a:stretch>
            <a:fillRect/>
          </a:stretch>
        </p:blipFill>
        <p:spPr>
          <a:xfrm>
            <a:off x="6223000" y="1905000"/>
            <a:ext cx="5461000" cy="339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23000" y="542925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หน้าผู้ใช้ สำหรับยืมอุปกรณ์และดูสถานะการยืม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mert-01.jpg"/>
          <p:cNvPicPr>
            <a:picLocks noChangeAspect="1"/>
          </p:cNvPicPr>
          <p:nvPr/>
        </p:nvPicPr>
        <p:blipFill>
          <a:blip r:embed="rId2"/>
          <a:srcRect b="35265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แดชบอร์ดศูนย์สั่งการ รวมสถานะภารกิจและทรัพยากรในหน้าเดียว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โมดูลหลัก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Arial"/>
              </a:rPr>
              <a:t>Mission · Triage · Vital ·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5500" y="5791200"/>
            <a:ext cx="3048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5500" y="59055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>
                <a:solidFill>
                  <a:srgbClr val="072A57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500" y="62103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ระดับ Triage</a:t>
            </a:r>
          </a:p>
          <a:p>
            <a:pPr algn="l">
              <a:lnSpc>
                <a:spcPct val="130000"/>
              </a:lnSpc>
            </a:pPr>
            <a:r>
              <a:rPr sz="699" b="0">
                <a:solidFill>
                  <a:srgbClr val="97A2AE"/>
                </a:solidFill>
                <a:latin typeface="Tahoma"/>
              </a:rPr>
              <a:t>แดง · เหลือง · เขียว · ดำ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SIDE PROJECT · EMERGENCY MEDICAL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M-MERT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Maritime Emergency Medical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ระบบสั่งการกู้ภัยทางการแพทย์ฉุกเฉินทางน้ำ รองรับภารกิจ Water / Land / Air ตั้งแต่รับแจ้งเหตุ จัดทีมอาสาสมัคร ติดตามรถพยาบาลแบบเรียลไทม์ ไปจนถึงประสานงานกับโรงพยาบาลปลายทาง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Web · Command Dashboard · Field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ทำเองทั้งหมด — Architecture · Backend · Frontend ·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Bun · Hono 4 · Effect · Next.js 16 · PostgreSQL 16 · Prisma 6 · 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สั่งการผ่าน SSE push — คำสั่งจากแพทย์ถึงหน่วยหน้างานทันทีโดยไม่ต้องรอ refresh มี Triage 4 ระดับ, Vital Signs Monitoring, Waypoint Navigation (GPS / UTM / MGRS) และ Medical Order System แบบเรียลไทม์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M-MERT MARITIME EMERGENCY MEDICAL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ฝั่งปฏิบัติการ — ติดตามยานพาหนะเรียลไทม์ จัดการผู้ป่วยตามระดับ Triage ติดตามสถานการณ์ภารกิจ และประสานโรงพยาบาล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2603500" cy="21907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mert-02.jpg"/>
          <p:cNvPicPr>
            <a:picLocks noChangeAspect="1"/>
          </p:cNvPicPr>
          <p:nvPr/>
        </p:nvPicPr>
        <p:blipFill>
          <a:blip r:embed="rId2"/>
          <a:srcRect l="1721" r="1721"/>
          <a:stretch>
            <a:fillRect/>
          </a:stretch>
        </p:blipFill>
        <p:spPr>
          <a:xfrm>
            <a:off x="508000" y="1905000"/>
            <a:ext cx="2603500" cy="2190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4222750"/>
            <a:ext cx="26035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แผนที่ติดตามยานพาหนะแบบเรียลไทม์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5500" y="1905000"/>
            <a:ext cx="2603500" cy="21907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mert-03.jpg"/>
          <p:cNvPicPr>
            <a:picLocks noChangeAspect="1"/>
          </p:cNvPicPr>
          <p:nvPr/>
        </p:nvPicPr>
        <p:blipFill>
          <a:blip r:embed="rId3"/>
          <a:srcRect l="4413" r="4413"/>
          <a:stretch>
            <a:fillRect/>
          </a:stretch>
        </p:blipFill>
        <p:spPr>
          <a:xfrm>
            <a:off x="3365500" y="1905000"/>
            <a:ext cx="2603500" cy="2190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65500" y="4222750"/>
            <a:ext cx="26035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ระบบจัดการผู้ป่วยพร้อมระดับ 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3000" y="1905000"/>
            <a:ext cx="2603500" cy="21907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mert-04.jpg"/>
          <p:cNvPicPr>
            <a:picLocks noChangeAspect="1"/>
          </p:cNvPicPr>
          <p:nvPr/>
        </p:nvPicPr>
        <p:blipFill>
          <a:blip r:embed="rId4"/>
          <a:srcRect l="1721" r="1721"/>
          <a:stretch>
            <a:fillRect/>
          </a:stretch>
        </p:blipFill>
        <p:spPr>
          <a:xfrm>
            <a:off x="6223000" y="1905000"/>
            <a:ext cx="2603500" cy="2190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23000" y="4222750"/>
            <a:ext cx="26035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หน้าติดตามสถานการณ์ของภารกิจ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0500" y="1905000"/>
            <a:ext cx="2603500" cy="21907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mert-05.jpg"/>
          <p:cNvPicPr>
            <a:picLocks noChangeAspect="1"/>
          </p:cNvPicPr>
          <p:nvPr/>
        </p:nvPicPr>
        <p:blipFill>
          <a:blip r:embed="rId5"/>
          <a:srcRect b="6908"/>
          <a:stretch>
            <a:fillRect/>
          </a:stretch>
        </p:blipFill>
        <p:spPr>
          <a:xfrm>
            <a:off x="9080500" y="1905000"/>
            <a:ext cx="2603500" cy="2190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80500" y="4222750"/>
            <a:ext cx="26035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ระบบจัดการโรงพยาบาลเชื่อมต่อ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8000" y="0"/>
            <a:ext cx="7874000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0" y="1016000"/>
            <a:ext cx="5461000" cy="444500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nic-rag-01.jpg"/>
          <p:cNvPicPr>
            <a:picLocks noChangeAspect="1"/>
          </p:cNvPicPr>
          <p:nvPr/>
        </p:nvPicPr>
        <p:blipFill>
          <a:blip r:embed="rId2"/>
          <a:srcRect l="20821" r="20821"/>
          <a:stretch>
            <a:fillRect/>
          </a:stretch>
        </p:blipFill>
        <p:spPr>
          <a:xfrm>
            <a:off x="5524500" y="1016000"/>
            <a:ext cx="5461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0" y="5588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Tahoma"/>
              </a:rPr>
              <a:t>Analytics Dashboard วิเคราะห์คุณภาพการตอบของแชท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39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SIDE PROJECT · AI · 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"/>
            <a:ext cx="3810000" cy="25400"/>
          </a:xfrm>
          <a:prstGeom prst="rect">
            <a:avLst/>
          </a:prstGeom>
          <a:solidFill>
            <a:srgbClr val="E8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35000"/>
            <a:ext cx="3619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Clinic Booking</a:t>
            </a:r>
          </a:p>
          <a:p>
            <a:pPr algn="l">
              <a:lnSpc>
                <a:spcPct val="115000"/>
              </a:lnSpc>
            </a:pPr>
            <a:r>
              <a:rPr sz="2299" b="1">
                <a:solidFill>
                  <a:srgbClr val="072A57"/>
                </a:solidFill>
                <a:latin typeface="Arial"/>
              </a:rPr>
              <a:t>+ AI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018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049" b="0">
                <a:solidFill>
                  <a:srgbClr val="55606D"/>
                </a:solidFill>
                <a:latin typeface="Tahoma"/>
              </a:rPr>
              <a:t>ต่อ AI Chatbot แบบ RAG เข้ากับระบบจองคิวคลินิก — ผู้ป่วยถามเรื่องบริการ ราคา และเวลาเปิดทำการได้ผ่าน LINE โดยดึงคำตอบจากฐานข้อมูลของคลินิกผ่าน Vector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1242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28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LINE LIFF · Web Admin ·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7719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WORK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ทำเองทั้งหมด — RAG Pipeline · Backend ·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4196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5847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Turborepo · Next.js · LangChain · OpenAI SDK · Qdrant · Prisma · BullMQ · 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50673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5232400"/>
            <a:ext cx="3556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949" b="0">
                <a:solidFill>
                  <a:srgbClr val="55606D"/>
                </a:solidFill>
                <a:latin typeface="Tahoma"/>
              </a:rPr>
              <a:t>RAG Pipeline ด้วย LangChain + OpenAI + Qdrant Vector Database, LINE LIFF ให้คนไข้จองคิวผ่านมือถือ โดยไม่ต้องลงแอป, Admin Dashboard สำหรับเจ้าหน้าที่จัดการนัดหมาย และ Worker Service สำหรับงานพื้นหลัง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477000"/>
            <a:ext cx="3810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65659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CLINIC BOOKING + AI CHATBOT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ฝั่งหลังบ้าน — จัดการบริการและแพ็กเกจของคลินิก และข้อมูลแพทย์ (ปิดชื่อและรูปเพื่อความเป็นส่วนตัว)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05000"/>
            <a:ext cx="5461000" cy="33972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nic-rag-02.jpg"/>
          <p:cNvPicPr>
            <a:picLocks noChangeAspect="1"/>
          </p:cNvPicPr>
          <p:nvPr/>
        </p:nvPicPr>
        <p:blipFill>
          <a:blip r:embed="rId2"/>
          <a:srcRect b="2536"/>
          <a:stretch>
            <a:fillRect/>
          </a:stretch>
        </p:blipFill>
        <p:spPr>
          <a:xfrm>
            <a:off x="508000" y="1905000"/>
            <a:ext cx="5461000" cy="339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" y="542925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หน้าจัดการบริการและแพ็กเกจของคลินิก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1905000"/>
            <a:ext cx="5461000" cy="3397250"/>
          </a:xfrm>
          <a:prstGeom prst="rect">
            <a:avLst/>
          </a:prstGeom>
          <a:solidFill>
            <a:srgbClr val="E4E7E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inic-rag-03.jpg"/>
          <p:cNvPicPr>
            <a:picLocks noChangeAspect="1"/>
          </p:cNvPicPr>
          <p:nvPr/>
        </p:nvPicPr>
        <p:blipFill>
          <a:blip r:embed="rId3"/>
          <a:srcRect l="17850" r="17850"/>
          <a:stretch>
            <a:fillRect/>
          </a:stretch>
        </p:blipFill>
        <p:spPr>
          <a:xfrm>
            <a:off x="6223000" y="1905000"/>
            <a:ext cx="5461000" cy="339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23000" y="542925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0">
                <a:solidFill>
                  <a:srgbClr val="97A2AE"/>
                </a:solidFill>
                <a:latin typeface="Tahoma"/>
              </a:rPr>
              <a:t>หน้าจัดการข้อมูลแพทย์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OUTSIDE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More side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โปรเจกต์ที่ทำนอกเวลางาน เพื่อฝึกออกแบบระบบและลองเทคโนโลยีใหม่ ๆ บางตัวเปิดใช้จริงแล้ว บางตัวยังพัฒนาอยู่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095500"/>
            <a:ext cx="5334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2247900"/>
            <a:ext cx="5334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00">
                <a:solidFill>
                  <a:srgbClr val="97A2AE"/>
                </a:solidFill>
                <a:latin typeface="Arial"/>
              </a:rPr>
              <a:t>SAAS ERP · LINE MINI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4511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399" b="1">
                <a:solidFill>
                  <a:srgbClr val="072A57"/>
                </a:solidFill>
                <a:latin typeface="Arial"/>
              </a:rPr>
              <a:t>StockSook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7686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ERP + POS ขนาดเล็กสำหรับร้านค้า SME — สต๊อก ขายหน้าร้าน คำนวณต้นทุนเฉลี่ยถ่วงน้ำหนัก และรายงาน เข้าใช้ผ่าน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479800"/>
            <a:ext cx="5334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Turborepo · Next.js 15 · Hono · PostgreSQL · LINE LIFF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000" y="2095500"/>
            <a:ext cx="5334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000" y="2247900"/>
            <a:ext cx="5334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00">
                <a:solidFill>
                  <a:srgbClr val="97A2AE"/>
                </a:solidFill>
                <a:latin typeface="Arial"/>
              </a:rPr>
              <a:t>B2B SAAS · MULTI-TENANT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24511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399" b="1">
                <a:solidFill>
                  <a:srgbClr val="072A57"/>
                </a:solidFill>
                <a:latin typeface="Arial"/>
              </a:rPr>
              <a:t>Clinic ERP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7686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ระบบ ERP + CRM สำหรับคลินิก แยก Workspace รายสาขา 6 แอปใน Monorepo ใช้ fp-ts จัดการ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0" y="3479800"/>
            <a:ext cx="5334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Hono 4 · fp-ts · SuperTokens · BullMQ · Cloudflare R2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000500"/>
            <a:ext cx="5334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4152900"/>
            <a:ext cx="5334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00">
                <a:solidFill>
                  <a:srgbClr val="97A2AE"/>
                </a:solidFill>
                <a:latin typeface="Arial"/>
              </a:rPr>
              <a:t>SOCIAL GOOD · AI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3561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399" b="1">
                <a:solidFill>
                  <a:srgbClr val="072A57"/>
                </a:solidFill>
                <a:latin typeface="Arial"/>
              </a:rPr>
              <a:t>MeawSook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6736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LINE Mini App ตามหาแมวหายและบริจาคอาหารแมวแบบตรวจสอบย้อนหลังได้ ใช้ Multimodal Embedding จับคู่ใบหน้าแมว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5384800"/>
            <a:ext cx="5334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Voyage Multimodal-3 · pgvector · Hono · Cloudflare Workers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3000" y="4000500"/>
            <a:ext cx="5334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3000" y="4152900"/>
            <a:ext cx="5334000" cy="1651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00">
                <a:solidFill>
                  <a:srgbClr val="97A2AE"/>
                </a:solidFill>
                <a:latin typeface="Arial"/>
              </a:rPr>
              <a:t>CLINICAL OPS · INTERNAL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0" y="43561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399" b="1">
                <a:solidFill>
                  <a:srgbClr val="072A57"/>
                </a:solidFill>
                <a:latin typeface="Arial"/>
              </a:rPr>
              <a:t>EMS-ECI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3000" y="46736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899" b="0">
                <a:solidFill>
                  <a:srgbClr val="55606D"/>
                </a:solidFill>
                <a:latin typeface="Tahoma"/>
              </a:rPr>
              <a:t>ระบบบันทึก Checklist ประจำวันและทะเบียนผู้ป่วยแผลกดทับสำหรับพยาบาล พร้อม Excel Report สำหรับประชุม QI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5384800"/>
            <a:ext cx="5334000" cy="2159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0">
                <a:solidFill>
                  <a:srgbClr val="97A2AE"/>
                </a:solidFill>
                <a:latin typeface="Arial"/>
              </a:rPr>
              <a:t>Next.js 16 · React 19 · Prisma 7 · better-auth · ExcelJS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397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49" b="1" spc="210">
                <a:solidFill>
                  <a:srgbClr val="97A2AE"/>
                </a:solidFill>
                <a:latin typeface="Arial"/>
              </a:rPr>
              <a:t>TOOLBOX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40005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35000"/>
            <a:ext cx="11176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99" b="1">
                <a:solidFill>
                  <a:srgbClr val="072A57"/>
                </a:solidFill>
                <a:latin typeface="Arial"/>
              </a:rPr>
              <a:t>Skills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199" b="0">
                <a:solidFill>
                  <a:srgbClr val="55606D"/>
                </a:solidFill>
                <a:latin typeface="Tahoma"/>
              </a:rPr>
              <a:t>เครื่องมือที่ใช้สร้างงานในแต่ละวัน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77000"/>
            <a:ext cx="11176000" cy="635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659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799" b="1">
                <a:solidFill>
                  <a:srgbClr val="072A57"/>
                </a:solidFill>
                <a:latin typeface="Arial"/>
              </a:rPr>
              <a:t>Muhammadhisam Pala</a:t>
            </a:r>
            <a:r>
              <a:rPr sz="799" b="0">
                <a:solidFill>
                  <a:srgbClr val="97A2AE"/>
                </a:solidFill>
                <a:latin typeface="Arial"/>
              </a:rPr>
              <a:t>   |   Software Developer Portfolio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0955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86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Node.js · TypeScript · Bun · NestJS · ExpressJS · Fastify · HonoJS · ElysiaJS · Python · FastAPI · Go · C# .NET · REST API · tRPC · GraphQL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20955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2286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HTML · CSS · JavaScript · React · Angular · Next.js · Tailwind CSS · Bootstrap · PrimeNG · PrimeReact · Apollo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20955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DATABASE &amp; 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2286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MySQL · PostgreSQL · MSSQL · SQLite · MongoDB · Redis · Qdrant · pgvector · Prisma · TypeORM · Sequelize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1910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DEVOPS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3815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Docker · Docker Compose · Nginx · Git · GitHub Actions · AWS (EC2/S3/RDS) · Linux · Turborepo · pnpm ·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0" y="41910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AI &amp;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43815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OpenAI SDK · LangChain · RAG · HL7 Parser · Playwright · BullMQ · Zod · NextAuth · better-auth · JWT · Pino · ExcelJS · Sharp · LINE LIFF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1910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699" b="1" spc="200">
                <a:solidFill>
                  <a:srgbClr val="E8552F"/>
                </a:solidFill>
                <a:latin typeface="Arial"/>
              </a:rPr>
              <a:t>ARCHITECTURE &amp;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3815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949" b="0">
                <a:solidFill>
                  <a:srgbClr val="55606D"/>
                </a:solidFill>
                <a:latin typeface="Arial"/>
              </a:rPr>
              <a:t>OOP · MVC · System Design · API Security &amp; Authentication · Microservices · Multi-tenant SaaS · Event-driven / SSE · Responsive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77900" y="0"/>
            <a:ext cx="11214100" cy="6858000"/>
          </a:xfrm>
          <a:custGeom>
            <a:avLst/>
            <a:gdLst/>
            <a:ahLst/>
            <a:cxnLst/>
            <a:rect l="l" t="t" r="r" b="b"/>
            <a:pathLst>
              <a:path w="11214100" h="6858000">
                <a:moveTo>
                  <a:pt x="11214100" y="0"/>
                </a:moveTo>
                <a:lnTo>
                  <a:pt x="1121410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4445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199" b="1" spc="320">
                <a:solidFill>
                  <a:srgbClr val="E8552F"/>
                </a:solidFill>
                <a:latin typeface="Arial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4749800"/>
            <a:ext cx="7620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399" b="1">
                <a:solidFill>
                  <a:srgbClr val="072A57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032500"/>
            <a:ext cx="825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2299" b="0">
                <a:solidFill>
                  <a:srgbClr val="072A57"/>
                </a:solidFill>
                <a:latin typeface="Arial"/>
              </a:rPr>
              <a:t>muhammadhisam.pala@gmail.com  |  090-163-0867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64516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sz="1199" b="0">
                <a:solidFill>
                  <a:srgbClr val="7C8894"/>
                </a:solidFill>
                <a:latin typeface="Arial"/>
              </a:rPr>
              <a:t>LINE: hisam023 · linkedin.com/in/muhammadhisam-pala-45b83825a · github.com/muhammmadhisam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33400"/>
            <a:ext cx="533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60000"/>
              </a:lnSpc>
            </a:pPr>
            <a:r>
              <a:rPr sz="949" b="1">
                <a:solidFill>
                  <a:srgbClr val="072A57"/>
                </a:solidFill>
                <a:latin typeface="Arial"/>
              </a:rPr>
              <a:t>Additional work available at</a:t>
            </a:r>
          </a:p>
          <a:p>
            <a:pPr algn="r">
              <a:lnSpc>
                <a:spcPct val="160000"/>
              </a:lnSpc>
            </a:pPr>
            <a:r>
              <a:rPr sz="949" b="0">
                <a:solidFill>
                  <a:srgbClr val="6E7A87"/>
                </a:solidFill>
                <a:latin typeface="Arial"/>
              </a:rPr>
              <a:t>github.com/muhammmadhisam/profile-muhammadhisam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Muhammadhisam Pala — Software Developer Portfolio 2026</dc:title>
  <dc:subject>Software Developer Portfolio</dc:subject>
  <dc:creator>Muhammadhisam Pala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